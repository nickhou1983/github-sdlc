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566160"/>
            <a:ext cx="3108960" cy="310896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502920"/>
            <a:ext cx="1005840" cy="10058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3878" y="7644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8368" y="2286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驱动的端到端软件交付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 Issue 到 Merge：Issue AI · Coding Agent · Code Review Agent · Agent Merge · Copilot Autofix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374904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人定义问题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07208" y="374904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07208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全程执行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956048" y="374904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56048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人质量把关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2026 · 技术分享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什么是 Agentic SDLC？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的角色演进：从「补全代码」到「交付软件」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64008" cy="1554480"/>
          </a:xfrm>
          <a:prstGeom prst="rect">
            <a:avLst/>
          </a:prstGeom>
          <a:solidFill>
            <a:srgbClr val="A0AAB4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1｜Autocomplete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1655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辅助编码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" y="20391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代码补全、Chat 问答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人写代码，AI 提建议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23444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234440"/>
            <a:ext cx="64008" cy="1554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0"/>
          <p:cNvSpPr/>
          <p:nvPr/>
        </p:nvSpPr>
        <p:spPr>
          <a:xfrm>
            <a:off x="3493008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2｜Assistant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93008" y="1655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协作编码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93008" y="20391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 Mode 多文件编辑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人主导，AI 同步结对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123444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234440"/>
            <a:ext cx="64008" cy="1554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5"/>
          <p:cNvSpPr/>
          <p:nvPr/>
        </p:nvSpPr>
        <p:spPr>
          <a:xfrm>
            <a:off x="6327648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3｜Agent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27648" y="1655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自主交付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27648" y="20391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委托任务 → 产出 PR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人委托与把关，AI 执行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127248" y="1783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61888" y="1783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1C23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312724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定义：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Agentic SDLC = 在软件开发生命周期的每个环节，由</a:t>
            </a:r>
            <a:pPr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自主智能体（Agent）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承担执行工作，人类专注于定义问题与质量把关，且全程受平台治理（门禁、审计）约束。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023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✦ 平台一体化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Issue↔PR↔CI↔安全同平台，AI 上下文不断链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291840" y="4023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✦ 同步 + 异步双模式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IDE 结对（Agent Mode）＋ 云端委托（Coding Agent）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126480" y="4023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✦ 治理内建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Branch Protection、人工 Approve、完整审计日志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SDLC 全阶段 AI 覆盖全景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八大阶段均有 AI 能力落位，编码 / 评审 / 安全最成熟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38074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56" y="1480596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1399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规划 / 需求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03504" y="1892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 AI · 拆解 · Copilot Spaces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3504" y="2441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606040" y="123444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52344" y="138074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196" y="148059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27832" y="1399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设计 / 原型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752344" y="1892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Spark · 架构讨论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752344" y="2441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123444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01184" y="138074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036" y="1480596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76672" y="1399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编码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901184" y="1892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补全 · Agent Mode · Coding Agent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901184" y="2441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903720" y="123444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50024" y="138074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876" y="1480596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25512" y="1399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代码评审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050024" y="1892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Code Review Agent · PR 摘要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050024" y="2441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★★★★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57200" y="297180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" y="311810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56" y="3217956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78992" y="3136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 / CI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03504" y="363016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测试生成 · Actions 工作流 · CI 诊断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03504" y="4178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★★★★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2606040" y="297180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2752344" y="311810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196" y="3217956"/>
            <a:ext cx="184343" cy="18434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227832" y="3136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安全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2752344" y="363016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CodeQL · Autofix · Dependabot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2752344" y="4178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★★★★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4754880" y="297180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901184" y="311810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036" y="3217956"/>
            <a:ext cx="184343" cy="184343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376672" y="3136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部署 / 发布</a:t>
            </a:r>
            <a:endParaRPr lang="en-US" sz="1350" dirty="0"/>
          </a:p>
        </p:txBody>
      </p:sp>
      <p:sp>
        <p:nvSpPr>
          <p:cNvPr id="46" name="Text 36"/>
          <p:cNvSpPr/>
          <p:nvPr/>
        </p:nvSpPr>
        <p:spPr>
          <a:xfrm>
            <a:off x="4901184" y="363016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CD 工作流生成 · IaC 辅助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4901184" y="4178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6903720" y="2971800"/>
            <a:ext cx="20116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7050024" y="3118104"/>
            <a:ext cx="384048" cy="38404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9876" y="3217956"/>
            <a:ext cx="184343" cy="184343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525512" y="3136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运维 / 维护</a:t>
            </a:r>
            <a:endParaRPr lang="en-US" sz="1350" dirty="0"/>
          </a:p>
        </p:txBody>
      </p:sp>
      <p:sp>
        <p:nvSpPr>
          <p:cNvPr id="52" name="Text 41"/>
          <p:cNvSpPr/>
          <p:nvPr/>
        </p:nvSpPr>
        <p:spPr>
          <a:xfrm>
            <a:off x="7050024" y="363016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Bug 委托修复 · 技术债治理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7050024" y="4178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★★★★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端到端 AI 交付流程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从需求到合并，人只出现在两个节点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29844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1298448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54533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📋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19659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 AI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229514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结构化任务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728216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874520" y="1417320"/>
            <a:ext cx="129844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74520" y="1417320"/>
            <a:ext cx="1298448" cy="54864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4" name="Text 11"/>
          <p:cNvSpPr/>
          <p:nvPr/>
        </p:nvSpPr>
        <p:spPr>
          <a:xfrm>
            <a:off x="1874520" y="154533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🤖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920240" y="19659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Coding Agent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920240" y="229514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沙箱编码+自测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145536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291840" y="1417320"/>
            <a:ext cx="129844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91840" y="1417320"/>
            <a:ext cx="1298448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0" name="Text 17"/>
          <p:cNvSpPr/>
          <p:nvPr/>
        </p:nvSpPr>
        <p:spPr>
          <a:xfrm>
            <a:off x="3291840" y="154533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🛡️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337560" y="19659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CI + Autofix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337560" y="229514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扫描即修复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62856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709160" y="1417320"/>
            <a:ext cx="129844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1417320"/>
            <a:ext cx="1298448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6" name="Text 23"/>
          <p:cNvSpPr/>
          <p:nvPr/>
        </p:nvSpPr>
        <p:spPr>
          <a:xfrm>
            <a:off x="4709160" y="154533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🔍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754880" y="19659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Review Agent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754880" y="229514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初审+自动改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80176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126480" y="1417320"/>
            <a:ext cx="1298448" cy="1371600"/>
          </a:xfrm>
          <a:prstGeom prst="rect">
            <a:avLst/>
          </a:prstGeom>
          <a:solidFill>
            <a:srgbClr val="1C2330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26480" y="1417320"/>
            <a:ext cx="1298448" cy="54864"/>
          </a:xfrm>
          <a:prstGeom prst="rect">
            <a:avLst/>
          </a:prstGeom>
          <a:solidFill>
            <a:srgbClr val="E6EDF3"/>
          </a:solidFill>
          <a:ln/>
        </p:spPr>
      </p:sp>
      <p:sp>
        <p:nvSpPr>
          <p:cNvPr id="32" name="Text 29"/>
          <p:cNvSpPr/>
          <p:nvPr/>
        </p:nvSpPr>
        <p:spPr>
          <a:xfrm>
            <a:off x="6126480" y="154533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👤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172200" y="19659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人工终审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172200" y="229514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Approve 把关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397496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7543800" y="1417320"/>
            <a:ext cx="1298448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543800" y="1417320"/>
            <a:ext cx="1298448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8" name="Text 35"/>
          <p:cNvSpPr/>
          <p:nvPr/>
        </p:nvSpPr>
        <p:spPr>
          <a:xfrm>
            <a:off x="7543800" y="154533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🔀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7589520" y="19659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 Merge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7589520" y="229514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清障+自动合并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874520" y="3063240"/>
            <a:ext cx="5669280" cy="0"/>
          </a:xfrm>
          <a:prstGeom prst="line">
            <a:avLst/>
          </a:prstGeom>
          <a:noFill/>
          <a:ln w="19050">
            <a:solidFill>
              <a:srgbClr val="A371F7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1874520" y="3127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评审意见 / 冲突 / CI 失败 → 自动回流给 Coding Agent 迭代修复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C23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1520" y="376732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人只做两件事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① 定义问题：写清楚 Issue 与验收标准     ② 质量把关：终审 Approve 与门禁规则设定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五大核心 AI 能力总览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五者串联，构成闭环：起点 → 引擎 → 质检 → 收口 → 底座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627632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25880"/>
            <a:ext cx="1627632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554480"/>
            <a:ext cx="548640" cy="548640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" y="16971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" y="2194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 AI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22376" y="26974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22376" y="2697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闭环起点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6928" y="308152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自然语言 → 结构化任务，AI 可消费的需求入口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203704" y="1325880"/>
            <a:ext cx="1627632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203704" y="1325880"/>
            <a:ext cx="1627632" cy="64008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6" name="Shape 12"/>
          <p:cNvSpPr/>
          <p:nvPr/>
        </p:nvSpPr>
        <p:spPr>
          <a:xfrm>
            <a:off x="2743200" y="1554480"/>
            <a:ext cx="548640" cy="548640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46" y="169712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76856" y="2194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Coding Agent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468880" y="26974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468880" y="2697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交付引擎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313432" y="308152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云端沙箱自主编码，Issue 进、Draft PR 出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950208" y="1325880"/>
            <a:ext cx="1627632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950208" y="1325880"/>
            <a:ext cx="1627632" cy="640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4" name="Shape 19"/>
          <p:cNvSpPr/>
          <p:nvPr/>
        </p:nvSpPr>
        <p:spPr>
          <a:xfrm>
            <a:off x="4489704" y="1554480"/>
            <a:ext cx="548640" cy="548640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50" y="169712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023360" y="2194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Code Review Agent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215384" y="26974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215384" y="2697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质检站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059936" y="308152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初审拦截问题，人工评审升级为把关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696712" y="1325880"/>
            <a:ext cx="1627632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696712" y="1325880"/>
            <a:ext cx="1627632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2" name="Shape 26"/>
          <p:cNvSpPr/>
          <p:nvPr/>
        </p:nvSpPr>
        <p:spPr>
          <a:xfrm>
            <a:off x="6236208" y="1554480"/>
            <a:ext cx="548640" cy="548640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854" y="1697126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769864" y="2194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 Merge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961888" y="26974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961888" y="2697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最后一公里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806440" y="308152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解冲突、修 CI、跟进意见，门禁满足即合并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7443216" y="1325880"/>
            <a:ext cx="1627632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7443216" y="1325880"/>
            <a:ext cx="1627632" cy="6400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0" name="Shape 33"/>
          <p:cNvSpPr/>
          <p:nvPr/>
        </p:nvSpPr>
        <p:spPr>
          <a:xfrm>
            <a:off x="7982712" y="1554480"/>
            <a:ext cx="548640" cy="548640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5358" y="1697126"/>
            <a:ext cx="263347" cy="26334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516368" y="21945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Copilot Autofix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7708392" y="26974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7708392" y="2697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安全底座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7552944" y="308152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CodeQL 发现漏洞 → AI 生成修复，发现即修复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6CDD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接下来逐一拆解 →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 AI — 需求管理的 AI 入口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 Issue 从「人工文本」变成「AI 可执行的任务定义」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92608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64008" cy="2651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719072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Issues 内置的 Copilot 能力集。自然语言一句话即可生成结构化 Issue（标题、复现步骤、标签），支持批量创建、模板匹配与重复检测。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 同时是 Coding Agent 的最佳提示词载体：标题=目标，正文=验收标准，评论=补充上下文。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11880" y="1234440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8184" y="13258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自然语言创建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58184" y="1636776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口述需求 → 自动结构化，套用 Issue Template / Forms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45352" y="1234440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3258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摘要与解释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91656" y="1636776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长讨论串一键摘要，解释 Issue 中引用的代码与报错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11880" y="2642616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8184" y="273405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子任务拆解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58184" y="304495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大需求拆成 Sub-issues 树，逐个分配给人或 Copilot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45352" y="2642616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656" y="273405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assign 给 Copilot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91656" y="304495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 直接指派给虚拟协作者 Copilot，触发 Coding Agent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0416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最佳实践： 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写清「验收标准」是 AI 交付成功率的第一杠杆；适合委托 Bug 修复 / 测试补全 / 文档更新，不适合目标模糊的需求。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Coding Agent — 云端异步自主编码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 进，Draft PR 出 —— 端到端 AI 交付的核心载体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92608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64008" cy="265176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719072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官方云端编码智能体。把 Issue 或一句话任务交给它，在 GitHub Actions 驱动的临时沙箱中：分析代码库 → 制定计划 → 编码 → 跑测试 → 自我修复，最终产出 Draft PR 等你评审。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入口：Issue assign、Agents 面板、VS Code、CLI、Mobile。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11880" y="1234440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8184" y="13258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沙箱 + 防火墙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58184" y="1636776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临时环境用完即毁；默认限制出站网络，防数据外泄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45352" y="1234440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3258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权限边界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91656" y="1636776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只能推 copilot/* 分支；不能 approve / merge 自己的 PR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11880" y="2642616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8184" y="273405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MCP 可扩展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58184" y="304495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接入浏览器测试、内部 API、数据库 schema 等外部工具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45352" y="2642616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656" y="273405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全程可审计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91656" y="304495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 Session Log：每步推理、命令、变更可回放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0416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适用场景： 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Bug 修复 / 测试覆盖 / 技术债 ★★★★★；中型功能 ★★★；跨服务架构变更与高风险模块仍需人主导。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Code Review Agent — AI 代码评审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负责广度（每行都看），人负责深度（业务与架构）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92608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64008" cy="26517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719072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Copilot 作为「第一位评审者」自动审查 PR。已进化为 Agentic 评审：不只看 diff，会主动探索代码库相关文件，理解变更的全局影响。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可通过 rulesets 设为仓库必需评审步骤，对 Coding Agent 产出的 PR 同样生效 —— AI 写的代码先过 AI 评审。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11880" y="1234440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8184" y="13258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自动初审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58184" y="1636776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PR 创建即触发，数分钟给出意见：Bug、性能、安全、可读性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45352" y="1234440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3258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一键修复建议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91656" y="1636776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意见附 Suggested Changes，可直接 commit 应用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11880" y="2642616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8184" y="273405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自定义评审规范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58184" y="304495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 copilot-instructions.md 定义团队关注点，持续降噪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45352" y="2642616"/>
            <a:ext cx="2487168" cy="1243584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656" y="273405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评审→修复闭环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91656" y="304495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意见直接转给 Coding Agent 自动修复，AI 审 → AI 改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0416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边界： 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评审不计入必需人工批准数 —— 无法判断「该不该做」，业务正确性与架构取舍仍由人终审。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 Merge — 自动清障与合并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补上「PR 已批准却没人收尾」的最后一公里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92608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64008" cy="2651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719072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 Agent 持续监控 PR 直到合并完成：自动解决合并冲突、修复 CI 失败、响应评审意见，所有门禁满足后自动执行合并。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「Fix with Copilot」一键委托冲突解决：云端分析双方变更意图，生成语义正确的方案并验证后推送。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11880" y="1234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与传统 Auto-merge 的本质区别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11880" y="1600200"/>
            <a:ext cx="1371600" cy="457200"/>
          </a:xfrm>
          <a:prstGeom prst="rect">
            <a:avLst/>
          </a:prstGeom>
          <a:solidFill>
            <a:srgbClr val="1C23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5032" y="16002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场景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83480" y="1600200"/>
            <a:ext cx="1737360" cy="457200"/>
          </a:xfrm>
          <a:prstGeom prst="rect">
            <a:avLst/>
          </a:prstGeom>
          <a:solidFill>
            <a:srgbClr val="1C23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56632" y="160020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传统 Auto-merge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20840" y="1600200"/>
            <a:ext cx="1965960" cy="457200"/>
          </a:xfrm>
          <a:prstGeom prst="rect">
            <a:avLst/>
          </a:prstGeom>
          <a:solidFill>
            <a:srgbClr val="1C23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93992" y="16002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 Merge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11880" y="2057400"/>
            <a:ext cx="137160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85032" y="20574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出现合并冲突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83480" y="2057400"/>
            <a:ext cx="17373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05740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❌ 停止等人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20840" y="2057400"/>
            <a:ext cx="19659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93992" y="20574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✅ AI 分析并解决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11880" y="2514600"/>
            <a:ext cx="137160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85032" y="25146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CI 检查失败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983480" y="2514600"/>
            <a:ext cx="17373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56632" y="251460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❌ 停止等人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20840" y="2514600"/>
            <a:ext cx="19659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93992" y="25146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✅ AI 定位并修复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11880" y="2971800"/>
            <a:ext cx="137160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85032" y="29718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评审提出意见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983480" y="2971800"/>
            <a:ext cx="17373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56632" y="297180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❌ 等人改代码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720840" y="2971800"/>
            <a:ext cx="19659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93992" y="29718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✅ AI 响应修改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611880" y="3429000"/>
            <a:ext cx="137160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85032" y="34290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本质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983480" y="3429000"/>
            <a:ext cx="17373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56632" y="342900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被动等待条件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720840" y="3429000"/>
            <a:ext cx="196596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93992" y="342900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主动清除障碍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5800" y="40416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安全边界：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不绕过任何门禁 —— 必需的人工 Approve 与 CI 检查依然强制；「自动合并」只是条件满足后代人点击。最佳场景：依赖升级 / 文档类低风险 PR。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Copilot Autofix — 安全漏洞自动修复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Found means fixed：发现即修复，安全左移真正落地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8745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187452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08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CodeQL 扫描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17190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数据流分析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精确定位漏洞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40864" y="166420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69464" y="1280160"/>
            <a:ext cx="18745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9464" y="1280160"/>
            <a:ext cx="1874520" cy="54864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3" name="Text 10"/>
          <p:cNvSpPr/>
          <p:nvPr/>
        </p:nvSpPr>
        <p:spPr>
          <a:xfrm>
            <a:off x="2660904" y="1408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Autofix 引擎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660904" y="17190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LLM + CodeQL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精确上下文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53128" y="166420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81728" y="1280160"/>
            <a:ext cx="18745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81728" y="1280160"/>
            <a:ext cx="18745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5"/>
          <p:cNvSpPr/>
          <p:nvPr/>
        </p:nvSpPr>
        <p:spPr>
          <a:xfrm>
            <a:off x="4773168" y="1408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修复方案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773168" y="17190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 diff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+ 自然语言解释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65392" y="166420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93992" y="1280160"/>
            <a:ext cx="18745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93992" y="1280160"/>
            <a:ext cx="187452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0"/>
          <p:cNvSpPr/>
          <p:nvPr/>
        </p:nvSpPr>
        <p:spPr>
          <a:xfrm>
            <a:off x="6885432" y="1408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一键接受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885432" y="17190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漏洞在合并前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消除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3F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关键：把 CodeQL 污点数据流路径与漏洞类型作为精确上下文喂给模型 —— 修复准确率远高于通用 LLM 盲猜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2971800"/>
            <a:ext cx="2121408" cy="14173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" y="30815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新增代码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85216" y="339242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PR 触发扫描，告警自动附修复建议，合并前消除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697480" y="2971800"/>
            <a:ext cx="2121408" cy="14173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25496" y="30815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存量安全债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825496" y="339242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Security Campaigns 批量圈选漏洞，AI 批量生成修复 PR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2971800"/>
            <a:ext cx="2121408" cy="14173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65776" y="30815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主流漏洞类型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65776" y="339242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SQL 注入 / XSS / SSRF / 路径遍历 / 硬编码凭据等，覆盖 90%+ 常见告警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178040" y="2971800"/>
            <a:ext cx="15087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178040" y="30906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3×</a:t>
            </a:r>
            <a:endParaRPr lang="en-US" sz="4000" dirty="0"/>
          </a:p>
        </p:txBody>
      </p:sp>
      <p:sp>
        <p:nvSpPr>
          <p:cNvPr id="37" name="Text 34"/>
          <p:cNvSpPr/>
          <p:nvPr/>
        </p:nvSpPr>
        <p:spPr>
          <a:xfrm>
            <a:off x="722376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漏洞修复速度提升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（XSS 类快 7 倍+）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治理内建：AI 干活，人把关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规模化的前提是可控 —— 所有 Agent 行为受平台门禁约束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34440"/>
            <a:ext cx="64008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2984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Branch Protection / Rulesets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 产出的 PR 受完整分支保护约束，无法绕过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84248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84248"/>
            <a:ext cx="64008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04825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强制人工 Approve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Draft PR 必须他人批准才能合并；AI 评审不计入批准数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34056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734056"/>
            <a:ext cx="64008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27980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网络防火墙 + 沙箱隔离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Coding Agent 默认限制出站网络，环境用完即毁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483864"/>
            <a:ext cx="4114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483864"/>
            <a:ext cx="64008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5478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完整审计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所有行为以 Copilot 身份记录，Session Log 可回放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2040" y="1234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人机分工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92040" y="1600200"/>
            <a:ext cx="777240" cy="429768"/>
          </a:xfrm>
          <a:prstGeom prst="rect">
            <a:avLst/>
          </a:prstGeom>
          <a:solidFill>
            <a:srgbClr val="1C23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56048" y="1600200"/>
            <a:ext cx="649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环节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0" y="1600200"/>
            <a:ext cx="1463040" cy="429768"/>
          </a:xfrm>
          <a:prstGeom prst="rect">
            <a:avLst/>
          </a:prstGeom>
          <a:solidFill>
            <a:srgbClr val="1C23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33288" y="1600200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做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132320" y="1600200"/>
            <a:ext cx="1554480" cy="429768"/>
          </a:xfrm>
          <a:prstGeom prst="rect">
            <a:avLst/>
          </a:prstGeom>
          <a:solidFill>
            <a:srgbClr val="1C23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96328" y="1600200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人做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92040" y="2029968"/>
            <a:ext cx="7772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56048" y="2029968"/>
            <a:ext cx="649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2029968"/>
            <a:ext cx="14630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33288" y="202996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结构化 · 拆解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132320" y="2029968"/>
            <a:ext cx="155448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96328" y="2029968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定义问题与优先级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92040" y="2459736"/>
            <a:ext cx="7772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56048" y="2459736"/>
            <a:ext cx="649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编码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0" y="2459736"/>
            <a:ext cx="14630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33288" y="2459736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全部执行 + 自测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132320" y="2459736"/>
            <a:ext cx="155448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96328" y="2459736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提供验收标准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92040" y="2889504"/>
            <a:ext cx="7772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56048" y="2889504"/>
            <a:ext cx="649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安全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69280" y="2889504"/>
            <a:ext cx="14630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33288" y="2889504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扫描 + 生成修复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132320" y="2889504"/>
            <a:ext cx="155448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196328" y="2889504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确认接受修复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892040" y="3319272"/>
            <a:ext cx="7772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56048" y="3319272"/>
            <a:ext cx="649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评审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669280" y="3319272"/>
            <a:ext cx="14630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33288" y="3319272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初审 + 自动修复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132320" y="3319272"/>
            <a:ext cx="155448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96328" y="3319272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终审业务正确性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892040" y="3749040"/>
            <a:ext cx="7772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956048" y="3749040"/>
            <a:ext cx="649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合并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669280" y="3749040"/>
            <a:ext cx="146304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733288" y="3749040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清障 + 执行合并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132320" y="3749040"/>
            <a:ext cx="1554480" cy="4297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3749040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设定门禁规则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ellipse">
            <a:avLst/>
          </a:prstGeom>
          <a:solidFill>
            <a:srgbClr val="1C23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471099"/>
            <a:ext cx="228234" cy="228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落地路线与总结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786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从零改造成本的能力开始，逐步走向无人值守交付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265176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80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Phase 1｜即刻启用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Code Review Agent + Autofix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2585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零流程改造，立即降噪提效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配置 copilot-instructions.md 团队规范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23444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234440"/>
            <a:ext cx="2651760" cy="64008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380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Phase 2｜委托任务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Coding Agent 承接低风险工作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22585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Bug 修复 / 测试补全 / 技术债 / 文档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 Issue 验收标准提升成功率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26480" y="1234440"/>
            <a:ext cx="26517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234440"/>
            <a:ext cx="265176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380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Phase 3｜闭环收口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0936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Agent Merge 试点自动合并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22585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先在门禁健全仓库试点依赖升级类 PR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MCP 接入内部系统扩展边界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1C2330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3639312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是目前 SDLC AI 覆盖最完整的单一平台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Issue、PR、CI、安全同平台，AI 上下文不断链；人从执行者转型为「定义问题 + 质量把关」，其余交给 Agent。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GitHub Agentic SDLC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0" y="48508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Agentic SDLC</dc:title>
  <dc:subject>PptxGenJS Presentation</dc:subject>
  <dc:creator>PptxGenJS</dc:creator>
  <cp:lastModifiedBy>PptxGenJS</cp:lastModifiedBy>
  <cp:revision>1</cp:revision>
  <dcterms:created xsi:type="dcterms:W3CDTF">2026-07-10T03:00:07Z</dcterms:created>
  <dcterms:modified xsi:type="dcterms:W3CDTF">2026-07-10T03:00:07Z</dcterms:modified>
</cp:coreProperties>
</file>